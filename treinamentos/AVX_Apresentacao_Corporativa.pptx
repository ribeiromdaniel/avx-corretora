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B4A8A"/>
          </a:solidFill>
          <a:ln w="12700">
            <a:solidFill>
              <a:srgbClr val="2B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474720"/>
            <a:ext cx="3200400" cy="1668780"/>
          </a:xfrm>
          <a:prstGeom prst="rect">
            <a:avLst/>
          </a:prstGeom>
          <a:solidFill>
            <a:srgbClr val="2B4A8A">
              <a:alpha val="40000"/>
            </a:srgbClr>
          </a:solidFill>
          <a:ln w="12700">
            <a:solidFill>
              <a:srgbClr val="2B4A8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0"/>
            <a:ext cx="1828800" cy="2286000"/>
          </a:xfrm>
          <a:prstGeom prst="rect">
            <a:avLst/>
          </a:prstGeom>
          <a:solidFill>
            <a:srgbClr val="3A62B8">
              <a:alpha val="30000"/>
            </a:srgbClr>
          </a:solidFill>
          <a:ln w="12700">
            <a:solidFill>
              <a:srgbClr val="3A62B8">
                <a:alpha val="30000"/>
              </a:srgbClr>
            </a:solidFill>
            <a:prstDash val="solid"/>
          </a:ln>
        </p:spPr>
      </p:sp>
      <p:pic>
        <p:nvPicPr>
          <p:cNvPr id="6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63040"/>
            <a:ext cx="1645920" cy="1152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548640"/>
            <a:ext cx="36576" cy="4023360"/>
          </a:xfrm>
          <a:prstGeom prst="rect">
            <a:avLst/>
          </a:prstGeom>
          <a:solidFill>
            <a:srgbClr val="AABBD4">
              <a:alpha val="60000"/>
            </a:srgbClr>
          </a:solidFill>
          <a:ln w="12700">
            <a:solidFill>
              <a:srgbClr val="3A62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0" y="9144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Corporativas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560320" y="16916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 para Empresas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560320" y="26060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um plano de saúde: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60320" y="29077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gestão, suporte e parceria estratégica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56032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4904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0" y="3858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49040" y="3858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60320" y="4197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49040" y="4197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82880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645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a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parceira estratégica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 corporativa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66160" y="4114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 AVX acreditamos que saúde corporativa vai além da contratação de um benefício. Atuamos como parceiros estratégicos, oferecendo suporte contínuo e gestão especializada durante toda a jornada do cliente.”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520440" y="384048"/>
            <a:ext cx="54864" cy="141732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0" y="1920240"/>
            <a:ext cx="2423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920240"/>
            <a:ext cx="64008" cy="109728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2140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24528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Experiente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224528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especializados em saúde corporativa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920240"/>
            <a:ext cx="2423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920240"/>
            <a:ext cx="64008" cy="109728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12140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6288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Contínuo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876288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em todas as etapas do benefício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566160" y="3154680"/>
            <a:ext cx="2423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566160" y="3154680"/>
            <a:ext cx="64008" cy="109728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335584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2452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Carteira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224528" y="3630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ativo dos contratos e indicadores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17920" y="3154680"/>
            <a:ext cx="2423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217920" y="3154680"/>
            <a:ext cx="64008" cy="109728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355848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7628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Próximo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876288" y="3630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humana e personalizada com cada empresa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097280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investir em Plano de Saúde?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5448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das pessoas é investir no crescimento da empresa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82880" y="1170432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170432"/>
            <a:ext cx="2788920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Talentos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7472" y="19202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valorizam empresas que investem em sua saúde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154680" y="1170432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54680" y="1170432"/>
            <a:ext cx="2788920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371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7912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Absenteísmo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9272" y="19202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saudáveis faltam menos e rendem mais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126480" y="1170432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1170432"/>
            <a:ext cx="2788920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716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39712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Produtividade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91072" y="19202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garante foco, energia e desempenho superior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82880" y="2770632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82880" y="2770632"/>
            <a:ext cx="2788920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7180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6112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da Equipe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47472" y="35204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de saúde é reconhecido como diferencial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154680" y="2770632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154680" y="2770632"/>
            <a:ext cx="2788920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297180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67912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Empregadora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319272" y="35204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cuidadosas atraem os melhores candidatos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126480" y="2770632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26480" y="2770632"/>
            <a:ext cx="2788920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971800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39712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dos Colaboradores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291072" y="352044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Bem-estar gera engajamento e lealdade à empresa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182880" y="4453128"/>
            <a:ext cx="8778240" cy="33832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320040" y="44622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cuidam das pessoas constroem equipes mais engajadas e resultados mais sustentáveis.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118872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4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1280160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325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para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Colaborador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82880" y="2468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que se sentem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permanecem mais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engajados e entregam melhores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resultados.</a:t>
            </a:r>
            <a:endParaRPr lang="en-US" sz="1200" dirty="0"/>
          </a:p>
        </p:txBody>
      </p:sp>
      <p:pic>
        <p:nvPicPr>
          <p:cNvPr id="7" name="Image 1" descr="heart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005840" y="3749040"/>
            <a:ext cx="1645920" cy="1005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0" y="502920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114800" y="502920"/>
            <a:ext cx="64008" cy="71323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64922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73168" y="6766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assistência médica de qualidade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114800" y="1344168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114800" y="1344168"/>
            <a:ext cx="64008" cy="71323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904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73168" y="1517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para ele e sua família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114800" y="2185416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114800" y="2185416"/>
            <a:ext cx="64008" cy="71323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331720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73168" y="2359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Tranquilidade no dia a dia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114800" y="3026664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114800" y="3026664"/>
            <a:ext cx="64008" cy="71323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73168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e bem-estar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114800" y="3867912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114800" y="3867912"/>
            <a:ext cx="64008" cy="71323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014216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773168" y="4041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e acompanhamento contínuo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005840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7315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não está apenas em contratar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463040" y="548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implantação, surgem diversas demandas operacionais para o RH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91840" y="1097280"/>
            <a:ext cx="2560320" cy="713232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310128" y="1115568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CONTRATADO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44568" y="1810512"/>
            <a:ext cx="54864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7408" y="2084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" y="2423160"/>
            <a:ext cx="1252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2423160"/>
            <a:ext cx="1252728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4203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" y="3063240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Admissões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435608" y="28529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18488" y="2423160"/>
            <a:ext cx="1252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618488" y="2423160"/>
            <a:ext cx="1252728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254203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55064" y="3063240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Dependentes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871216" y="28529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054096" y="2423160"/>
            <a:ext cx="1252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054096" y="2423160"/>
            <a:ext cx="1252728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254203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090672" y="3063240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Cadastrais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06824" y="28529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489704" y="2423160"/>
            <a:ext cx="1252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2423160"/>
            <a:ext cx="1252728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54203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3063240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Diversas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742432" y="28529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925312" y="2423160"/>
            <a:ext cx="1252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25312" y="2423160"/>
            <a:ext cx="1252728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54203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961888" y="3063240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dos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7178040" y="28529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360920" y="2423160"/>
            <a:ext cx="1252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360920" y="2423160"/>
            <a:ext cx="1252728" cy="64008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542032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397496" y="3063240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Contrato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274320" y="3703320"/>
            <a:ext cx="8595360" cy="41148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20040" y="3712464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Tudo isso exige tempo, organização e gera grande demanda operacional para RH e gestores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005840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7315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AVX resolve isso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463040" y="548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Assumimos a gestão para sua empresa focar no que realmente importa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2880" y="1005840"/>
            <a:ext cx="384048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101498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AVX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2880" y="1481328"/>
            <a:ext cx="38404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481328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51790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RH sobrecarregado com demandas operacionais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" y="2112264"/>
            <a:ext cx="38404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2112264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14884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Falta de tempo para atividades estratégicas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" y="2743200"/>
            <a:ext cx="38404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2743200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779776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Risco de erros em cadastros e movimentações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" y="3374136"/>
            <a:ext cx="38404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" y="3374136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410712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Dúvidas sem suporte especializado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2880" y="4005072"/>
            <a:ext cx="38404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82880" y="4005072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4041648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Reajustes sem análise técnica adequada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6052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416052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6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20640" y="1005840"/>
            <a:ext cx="3840480" cy="402336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38928" y="101498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AVX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20640" y="1481328"/>
            <a:ext cx="3840480" cy="548640"/>
          </a:xfrm>
          <a:prstGeom prst="rect">
            <a:avLst/>
          </a:prstGeom>
          <a:solidFill>
            <a:srgbClr val="F0FFF6"/>
          </a:solidFill>
          <a:ln w="12700">
            <a:solidFill>
              <a:srgbClr val="F0FF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20640" y="1481328"/>
            <a:ext cx="64008" cy="54864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57800" y="151790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RH livre para atividades estratégicas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120640" y="2112264"/>
            <a:ext cx="3840480" cy="548640"/>
          </a:xfrm>
          <a:prstGeom prst="rect">
            <a:avLst/>
          </a:prstGeom>
          <a:solidFill>
            <a:srgbClr val="F0FFF6"/>
          </a:solidFill>
          <a:ln w="12700">
            <a:solidFill>
              <a:srgbClr val="F0FF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120640" y="2112264"/>
            <a:ext cx="64008" cy="54864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57800" y="214884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Movimentações e cadastros gerenciados pela AVX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20640" y="2743200"/>
            <a:ext cx="3840480" cy="548640"/>
          </a:xfrm>
          <a:prstGeom prst="rect">
            <a:avLst/>
          </a:prstGeom>
          <a:solidFill>
            <a:srgbClr val="F0FFF6"/>
          </a:solidFill>
          <a:ln w="12700">
            <a:solidFill>
              <a:srgbClr val="F0FF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120640" y="2743200"/>
            <a:ext cx="64008" cy="54864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57800" y="2779776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Zero erro — processo especializado e auditado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120640" y="3374136"/>
            <a:ext cx="3840480" cy="548640"/>
          </a:xfrm>
          <a:prstGeom prst="rect">
            <a:avLst/>
          </a:prstGeom>
          <a:solidFill>
            <a:srgbClr val="F0FFF6"/>
          </a:solidFill>
          <a:ln w="12700">
            <a:solidFill>
              <a:srgbClr val="F0FF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120640" y="3374136"/>
            <a:ext cx="64008" cy="54864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57800" y="3410712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Colaboradores com suporte e orientação direta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120640" y="4005072"/>
            <a:ext cx="3840480" cy="548640"/>
          </a:xfrm>
          <a:prstGeom prst="rect">
            <a:avLst/>
          </a:prstGeom>
          <a:solidFill>
            <a:srgbClr val="F0FFF6"/>
          </a:solidFill>
          <a:ln w="12700">
            <a:solidFill>
              <a:srgbClr val="F0FF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120640" y="4005072"/>
            <a:ext cx="64008" cy="54864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57800" y="4041648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Negociações técnicas e acompanhamento de reajustes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005840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Estratégica e Negociação de Reajustes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630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que protege sua empresa ao longo do tempo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52728" y="1801368"/>
            <a:ext cx="6638544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8348" y="114300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8348" y="1143000"/>
            <a:ext cx="1508760" cy="438912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4128" y="1627632"/>
            <a:ext cx="457200" cy="457200"/>
          </a:xfrm>
          <a:prstGeom prst="oval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207008"/>
            <a:ext cx="40233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" y="2167128"/>
            <a:ext cx="1362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Contrato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71500" y="2788920"/>
            <a:ext cx="1362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das condições e cláusulas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007108" y="2167128"/>
            <a:ext cx="1508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157984" y="114300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157984" y="1143000"/>
            <a:ext cx="1508760" cy="438912"/>
          </a:xfrm>
          <a:prstGeom prst="rect">
            <a:avLst/>
          </a:prstGeom>
          <a:solidFill>
            <a:srgbClr val="1B8A8A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83764" y="1627632"/>
            <a:ext cx="457200" cy="457200"/>
          </a:xfrm>
          <a:prstGeom prst="oval">
            <a:avLst/>
          </a:prstGeom>
          <a:solidFill>
            <a:srgbClr val="1B8A8A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8376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1207008"/>
            <a:ext cx="40233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31136" y="2167128"/>
            <a:ext cx="1362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Indicadores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231136" y="2788920"/>
            <a:ext cx="1362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sinistralidade e uso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666744" y="2167128"/>
            <a:ext cx="1508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817620" y="114300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17620" y="1143000"/>
            <a:ext cx="1508760" cy="438912"/>
          </a:xfrm>
          <a:prstGeom prst="rect">
            <a:avLst/>
          </a:prstGeom>
          <a:solidFill>
            <a:srgbClr val="2B4A8A"/>
          </a:solidFill>
          <a:ln w="12700">
            <a:solidFill>
              <a:srgbClr val="2B4A8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343400" y="1627632"/>
            <a:ext cx="457200" cy="457200"/>
          </a:xfrm>
          <a:prstGeom prst="oval">
            <a:avLst/>
          </a:prstGeom>
          <a:solidFill>
            <a:srgbClr val="2B4A8A"/>
          </a:solidFill>
          <a:ln w="12700">
            <a:solidFill>
              <a:srgbClr val="2B4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34340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07008"/>
            <a:ext cx="40233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90772" y="2167128"/>
            <a:ext cx="1362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890772" y="2788920"/>
            <a:ext cx="1362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 para tomada de decisão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326380" y="2167128"/>
            <a:ext cx="1508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77256" y="114300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477256" y="1143000"/>
            <a:ext cx="150876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003036" y="1627632"/>
            <a:ext cx="457200" cy="457200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0303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36" y="1207008"/>
            <a:ext cx="40233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550408" y="2167128"/>
            <a:ext cx="1362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Reajuste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550408" y="2788920"/>
            <a:ext cx="1362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junto à operadora para reduzir impacto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6986016" y="2167128"/>
            <a:ext cx="1508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136892" y="114300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136892" y="1143000"/>
            <a:ext cx="1508760" cy="43891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662672" y="1627632"/>
            <a:ext cx="457200" cy="457200"/>
          </a:xfrm>
          <a:prstGeom prst="oval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6626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1207008"/>
            <a:ext cx="40233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210044" y="2167128"/>
            <a:ext cx="1362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210044" y="2788920"/>
            <a:ext cx="1362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 de opções com melhor custo-benefício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274320" y="3675888"/>
            <a:ext cx="8595360" cy="36576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320040" y="36850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trabalho é buscar equilíbrio, previsibilidade e sustentabilidade para o benefício da sua empresa.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005840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Corporativa e Gestão de Pessoas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630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saúde como ferramenta estratégica de RH e conformidade com NR1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720" y="1143000"/>
            <a:ext cx="2194560" cy="713232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93008" y="1161288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SAÚDE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28800" y="1499616"/>
            <a:ext cx="1664208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64792" y="1499616"/>
            <a:ext cx="36576" cy="786384"/>
          </a:xfrm>
          <a:prstGeom prst="rect">
            <a:avLst/>
          </a:prstGeom>
          <a:solidFill>
            <a:srgbClr val="AABBD4"/>
          </a:solidFill>
          <a:ln w="12700">
            <a:solidFill>
              <a:srgbClr val="AAB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2286000"/>
            <a:ext cx="1920240" cy="14630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2286000"/>
            <a:ext cx="1920240" cy="54864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37744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 regulares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93008" y="1499616"/>
            <a:ext cx="713232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42232" y="1499616"/>
            <a:ext cx="36576" cy="786384"/>
          </a:xfrm>
          <a:prstGeom prst="rect">
            <a:avLst/>
          </a:prstGeom>
          <a:solidFill>
            <a:srgbClr val="AABBD4"/>
          </a:solidFill>
          <a:ln w="12700">
            <a:solidFill>
              <a:srgbClr val="AABB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06040" y="2286000"/>
            <a:ext cx="1920240" cy="14630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606040" y="2286000"/>
            <a:ext cx="1920240" cy="54864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2377440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51760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Bem-Estar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6517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física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mental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50992" y="1499616"/>
            <a:ext cx="978408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65392" y="1499616"/>
            <a:ext cx="36576" cy="786384"/>
          </a:xfrm>
          <a:prstGeom prst="rect">
            <a:avLst/>
          </a:prstGeom>
          <a:solidFill>
            <a:srgbClr val="AABBD4"/>
          </a:solidFill>
          <a:ln w="12700">
            <a:solidFill>
              <a:srgbClr val="AABBD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0" y="2286000"/>
            <a:ext cx="1920240" cy="14630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029200" y="2286000"/>
            <a:ext cx="1920240" cy="54864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2377440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4920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Afastamentos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749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faltas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licenças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650992" y="1499616"/>
            <a:ext cx="2852928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439912" y="1499616"/>
            <a:ext cx="36576" cy="786384"/>
          </a:xfrm>
          <a:prstGeom prst="rect">
            <a:avLst/>
          </a:prstGeom>
          <a:solidFill>
            <a:srgbClr val="AABBD4"/>
          </a:solidFill>
          <a:ln w="12700">
            <a:solidFill>
              <a:srgbClr val="AABBD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03720" y="2286000"/>
            <a:ext cx="1920240" cy="14630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903720" y="2286000"/>
            <a:ext cx="1920240" cy="54864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2377440"/>
            <a:ext cx="475488" cy="4754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49440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NR1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9494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às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regulatórias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2560320" y="3913632"/>
            <a:ext cx="4023360" cy="566928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544568" y="3730752"/>
            <a:ext cx="54864" cy="201168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578608" y="3922776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Um time saudável é mais produtivo e engajado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005840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Contratação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4630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para atender a realidade de cada empresa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2880" y="107899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078992"/>
            <a:ext cx="2011680" cy="804672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133856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" y="192024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paga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integralmente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2633472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benefício é 100% custeado pela empresa como investimento estratégico em pessoas.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32688" y="4251960"/>
            <a:ext cx="512064" cy="512064"/>
          </a:xfrm>
          <a:prstGeom prst="oval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395728" y="107899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395728" y="1078992"/>
            <a:ext cx="2011680" cy="804672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133856"/>
            <a:ext cx="658368" cy="658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68880" y="192024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6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6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colaborador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487168" y="2633472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 colaborador dividem o custo do plano de forma proporcional e acordada.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145536" y="4251960"/>
            <a:ext cx="512064" cy="512064"/>
          </a:xfrm>
          <a:prstGeom prst="oval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145536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608576" y="107899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08576" y="1078992"/>
            <a:ext cx="2011680" cy="804672"/>
          </a:xfrm>
          <a:prstGeom prst="rect">
            <a:avLst/>
          </a:prstGeom>
          <a:solidFill>
            <a:srgbClr val="1B8A8A"/>
          </a:solidFill>
          <a:ln w="12700">
            <a:solidFill>
              <a:srgbClr val="1B8A8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1133856"/>
            <a:ext cx="658368" cy="6583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81728" y="192024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700016" y="2633472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contribuição do colaborador é descontada automaticamente na folha mensal.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358384" y="4251960"/>
            <a:ext cx="512064" cy="512064"/>
          </a:xfrm>
          <a:prstGeom prst="oval">
            <a:avLst/>
          </a:prstGeom>
          <a:solidFill>
            <a:srgbClr val="1B8A8A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358384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821424" y="107899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21424" y="1078992"/>
            <a:ext cx="2011680" cy="804672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133856"/>
            <a:ext cx="658368" cy="6583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94576" y="192024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Dependentes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912864" y="2633472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benefício para cônjuges, filhos e outros dependentes do colaborador.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571232" y="4251960"/>
            <a:ext cx="512064" cy="512064"/>
          </a:xfrm>
          <a:prstGeom prst="oval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571232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AVX orienta sua empresa na escolha do modelo mais adequado ao seu perfil e orçamento.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pic>
        <p:nvPicPr>
          <p:cNvPr id="3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1645920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463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AVX?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relacionamento não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na assinatura do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contrato. É nesse momento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nossa parceria começa.</a:t>
            </a:r>
            <a:endParaRPr lang="en-US" sz="1200" dirty="0"/>
          </a:p>
        </p:txBody>
      </p:sp>
      <p:pic>
        <p:nvPicPr>
          <p:cNvPr id="6" name="Image 1" descr="handshake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31520" y="4069080"/>
            <a:ext cx="1828800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474720" y="20116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474720" y="20116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47548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14800" y="44805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contínuo após a contratação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263640" y="20116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263640" y="20116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7548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720" y="44805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especializada em saúde corporativa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474720" y="138988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474720" y="138988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16642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14800" y="163677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próximo e personalizado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263640" y="138988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263640" y="138988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664208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163677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sobrecarga operacional para o RH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3474720" y="257860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3474720" y="257860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9312" y="2852928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114800" y="282549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ativa da carteira de planos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6263640" y="257860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6263640" y="257860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2852928"/>
            <a:ext cx="384048" cy="38404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03720" y="282549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em negociações de reajuste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3474720" y="376732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3474720" y="376732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9312" y="4041648"/>
            <a:ext cx="384048" cy="38404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114800" y="401421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humanizado e acessível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6263640" y="3767328"/>
            <a:ext cx="2606040" cy="100584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6263640" y="3767328"/>
            <a:ext cx="64008" cy="100584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4041648"/>
            <a:ext cx="384048" cy="38404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903720" y="4014216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 de longo prazo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52"/>
          </a:solidFill>
          <a:ln w="12700">
            <a:solidFill>
              <a:srgbClr val="1A2D52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(38) 99802-5274  |  comercial@avxcorretora.com.br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8778240" y="48737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B4A8A"/>
          </a:solidFill>
          <a:ln w="12700">
            <a:solidFill>
              <a:srgbClr val="2B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3A62B8"/>
          </a:solidFill>
          <a:ln w="12700">
            <a:solidFill>
              <a:srgbClr val="3A62B8"/>
            </a:solidFill>
            <a:prstDash val="solid"/>
          </a:ln>
        </p:spPr>
      </p:sp>
      <p:pic>
        <p:nvPicPr>
          <p:cNvPr id="4" name="Image 0" descr="AV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457200"/>
            <a:ext cx="2286000" cy="160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9768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cuidar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297680" y="32004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AVX conecta sua empresa a soluções em saúde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acompanhamento, gestão e suporte contínuo.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95020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3931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(38) 99802-5274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23367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0" y="42153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comercial@avxcorretora.com.br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51713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0" y="44988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avxcorretora.com.br  |  @avxcorretora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 rot="16200000">
            <a:off x="91440" y="164592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 X</a:t>
            </a:r>
            <a:endParaRPr lang="en-US" sz="7200" dirty="0"/>
          </a:p>
        </p:txBody>
      </p:sp>
      <p:sp>
        <p:nvSpPr>
          <p:cNvPr id="14" name="Text 8"/>
          <p:cNvSpPr/>
          <p:nvPr/>
        </p:nvSpPr>
        <p:spPr>
          <a:xfrm>
            <a:off x="4297680" y="4782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Consultor: _______________________________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AVX Corretora – Soluções Corporativas em Saúde</dc:title>
  <dc:subject>PptxGenJS Presentation</dc:subject>
  <dc:creator>AVX Corretora</dc:creator>
  <cp:lastModifiedBy>AVX Corretora</cp:lastModifiedBy>
  <cp:revision>1</cp:revision>
  <dcterms:created xsi:type="dcterms:W3CDTF">2026-05-18T01:44:08Z</dcterms:created>
  <dcterms:modified xsi:type="dcterms:W3CDTF">2026-05-18T01:44:08Z</dcterms:modified>
</cp:coreProperties>
</file>